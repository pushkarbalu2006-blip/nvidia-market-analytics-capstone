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70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Capstone on a supplied NVIDIA market analytics dataset (regression, classification, time series). The file looks synthetic/constructed, so findings are educational, not NVIDIA's real financial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Dataset: 39,298 records x 19 variables, April 1993 to October 2024. 0 exact duplicates; only 23 missing cells (negligible, imputed). Problem: which commercial/customer factors explain sales revenue. Targets: Log(Sales Revenue) for regression and High_Revenue (revenue &gt;= median) for classification. Revenue is log-transformed because it is strongly right-skewed.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 numeric variables (revenue, units, spend, discount %, return %, AI/ML adoption %, retention %, market share %, satisfaction, ad effectiveness) are ratio/interval data. 7 categorical variables (product category/name, region, customer segment/type, competitor influence/product) are nominal and one-hot encoded. Dates give Year/Month and the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predictor is symmetric and evenly spread (skew about 0; mean ~ median, e.g. Units Sold mean 2,546 vs median 2,532; Satisfaction 3.00 vs 3.00; Market Share 49.98 vs 50.04). Sales Revenue is the opposite: mean $41.4B but median only $307M, SD $148.5B, skew 4.45. A few extremely large records pull the mean far above the typical value, so medians and log transforms are the right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the log10 scale revenue spans roughly 8.4 to 12 (about $280M up to $1.12T per record). The huge gap between a $307M median and a $1.1T maximum is why modelling raw revenue would let extreme values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Correlations between revenue and every business variable are essentially zero (Discount -0.006, AI/ML adoption -0.004, Ad effectiveness -0.002, Retention -0.002, Marketing spend -0.001). Predictors are also uncorrelated with each other, so there is no multicollinearity. Business drivers show no linear link to revenue; the real signal is time (revenue vs year r = 0.45, log revenue vs year r = 0.61). Correlation is not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OLS (HC3 robust errors) on log revenue: R-squared 0.370, adjusted 0.370, F = 401.4. Only ONE predictor is significant at 5%: Date_Year, coefficient 0.1467 (p &lt; 0.001), i.e. revenue grows about 15.8% per year (exp(0.1467) = 1.158). Marketing spend, discount, AI/ML adoption, region, product and the rest are not significant. So the explanatory power comes almost entirely from the time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Hold-out (20%) test: R-squared 0.384, MAE 1.357 on the log scale (about a 3.9x typical multiplicative error). Test R-squared is close to the in-sample 0.370, so the model is not overfitting, but it is only moderate. The remaining variance is not explained by the supplied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Logistic regression predicting High vs Low revenue: accuracy 61.0%, ROC-AUC 0.664 (0.5 = random). Only modest separation, because a straight-line model cannot capture the sharp, non-linear jump in revenue after about 2015. The confusion matrix shows many misclassified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Decision tree (depth 5): accuracy 76.8%, AUC 0.767, clearly better than logistic. Date_Year has importance 0.9965; every other feature is below 0.002 (Units Sold 0.0013, Return Rate 0.0010, Marketing Spend 0.0006). The tree finds year thresholds where revenue jumps. Importance is not causation: year is a proxy for time-related growth, not a controllable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Tree structure (original units): ROOT splits on Date_Year &lt;= 2017.5. Right branch (year &gt; 2017, 21.2% of records) is 100% High revenue. Left branch (78.8%) splits again on Date_Year &lt;= 1994.5, where the 1993-94 group (5.6% of records) is also pure High revenue (a quirk of this synthetic data). The remaining middle group (1995-2017, 73.2% of records) is mostly Low revenue (about 68%) and is split by weaker rules: Return Rate &lt;= 4.93, then Units Sold &lt;= 4304.5 and Product Name_Tesla V100, which give only small gains. Reading the diagram: left branch = condition TRUE, right = FALSE; each box shows the rule, Gini impurity (0 = pure), share of samples and predicted class; blue = High revenue, orange = Low revenue. Interpretation: year thresholds do almost all the work, consistent with the 99.65% importance of Date_Year.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Monthly median revenue over 379 months (Apr 1993 to Oct 2024). Median revenue stays near $300M through about 2015, rises to roughly $1.5B in 2015-2020, then explodes to roughly $259B in 2020-2024. The 3-month moving average smooths month-to-month spikes and shows this regime shift clearly, with a short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Simple exponential smoothing chose alpha = 1.000, which means it just repeats the last value (naive forecast). Holt double exponential: alpha 1.000, beta 0.023 (weak trend memory). In-sample RMSE: 3-month MA $18.2B (best), Holt $23.8B, SES $24.0B. The moving average fits best because the series is very noisy and jumpy. These are in-sample errors after a 3-month warm-up, not out-of-sample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6-month mean forecast of monthly median revenue: MA $767.5B, SES $779.8B, Holt $820.2B. Holt is highest because it extrapolates the upward trend. Illustrative only: these values are implausible for a real company and the dataset is synthetic, so they must not be read as NVIDIA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Conclusion: (1) Revenue is extremely right-skewed, so log transform was needed. (2) Time (Date_Year) is the only meaningful driver: OLS growth about 15.8% per year, tree importance 99.7%. (3) Marketing, discount, AI/ML adoption, region and product show no measurable effect. (4) Models: OLS test R-squared 0.384, logistic AUC 0.664, tree AUC 0.767 (best). (5) 3-month moving average fits the time series best. (6) Findings are exploratory; the data looks synthetic, so validate the source before business use. Recommendation: collect richer, real data with genuine driver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NVIDIA Market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76B900"/>
                </a:solidFill>
              </a:defRPr>
            </a:pPr>
            <a:r>
              <a:t>Capstone Project: Regression, Classification &amp; Time-Series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6A6A6"/>
                </a:solidFill>
              </a:defRPr>
            </a:pPr>
            <a:r>
              <a:rPr dirty="0"/>
              <a:t>Presented by: Pushkar</a:t>
            </a:r>
            <a:r>
              <a:rPr lang="en-US" dirty="0"/>
              <a:t> B</a:t>
            </a: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A6A6A6"/>
                </a:solidFill>
              </a:defRPr>
            </a:pPr>
            <a:r>
              <a:rPr dirty="0"/>
              <a:t>BCHBA504 Capstone </a:t>
            </a:r>
            <a:r>
              <a:rPr lang="en-US" dirty="0"/>
              <a:t>Project</a:t>
            </a:r>
            <a:r>
              <a:rPr dirty="0"/>
              <a:t>| </a:t>
            </a:r>
            <a:r>
              <a:rPr dirty="0" err="1"/>
              <a:t>B.Com</a:t>
            </a:r>
            <a:r>
              <a:rPr dirty="0"/>
              <a:t> (Hons), </a:t>
            </a:r>
            <a:r>
              <a:rPr lang="en-US" dirty="0"/>
              <a:t>Manipal University of Higher Education</a:t>
            </a: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A6A6A6"/>
                </a:solidFill>
              </a:defRPr>
            </a:pPr>
            <a:r>
              <a:rPr dirty="0"/>
              <a:t>Dataset: nvidia_market_analytics.csv (supplied; see data caveat in notes)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1. Overview of Context &amp;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</a:t>
            </a:r>
            <a:r>
              <a:rPr dirty="0"/>
              <a:t>: We model how commercial and customer drivers explain sales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Problem statement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Which commercial, customer and market factors explain NVIDIA product sales revenue, and how can revenue be smoothed and projected over time?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Target variables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• Log(Sales Revenue (USD)): regression target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• High_Revenue (revenue ≥ median): classification target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Records: 39,298 | Period: 1993–2024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Feature variables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Numeric: Units Sold, Customer Satisfaction, Marketing Spend (USD), Discount Percentage (%), Return Rate (%), AI/ML Adoption Rate (%), Ad Campaign Effectiveness, Customer Retention Rate (%), Market Share (%)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Time: Date_Year, Date_Month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Categorical: Product Category, Product Name, Region, Customer Segment, Customer Type, Competitor Influence, Competitor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2a. Data Description &amp;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10 numeric (ratio/interval) and 7 categorical (nominal) variables.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84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0B0B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0B0B"/>
                          </a:solidFill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Numeric (continuous/discrete)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Units Sold, Customer Satisfaction, Marketing Spend (USD)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Numeric (continuous/discrete)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Discount Percentage (%), Return Rate (%), AI/ML Adoption Rate (%)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Numeric (continuous/discrete)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Sales Revenue (USD), Ad Campaign Effectiveness, Customer Retention Rate (%), Market Share (%)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Categorical (nominal)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Product Category, Product Name, Region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Categorical (nominal)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Customer Segment, Customer Type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Categorical (nominal)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Competitor Influence, Competitor Product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Date/Time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Date, Product Launch Date, Month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2b. Descriptive Statistics (Central Tendency &amp; Spread)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Revenue skewness is 4.45: mean and median differ sharply, so medians/logs are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0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SD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skew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2,545.89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2,532.00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1,414.50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100.00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5,000.00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0.0066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Customer Satisfaction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3.0004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3.0000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1.1552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5.0000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-0.0016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Marketing Spend (USD)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105,293.13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105,158.11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54,876.62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10,002.09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199,996.89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-0.0045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Discount Percentage (%)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12.43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12.00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7.4813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25.00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0.0154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Return Rate (%)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2.5440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2.5400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1.4104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0.1000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5.0000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0.0071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AI/ML Adoption Rate (%)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50.16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23.46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-0.0052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Ad Campaign Effectiveness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0.1751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0.1700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0.0721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0.0500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0.3000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0.0021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Customer Retention Rate (%)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69.93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11.85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0.0024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Market Share (%)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49.98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50.04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11.60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30.00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70.00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-0.0020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Sales Revenue (USD)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41,381,935,579.73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307,450,798.38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148,505,764,892.65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280,003,084.24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1,119,957,875,154.01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4.4511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2c. Revenue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Revenue spans many orders of magnitude, so log scale is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5</a:t>
            </a:r>
          </a:p>
        </p:txBody>
      </p:sp>
      <p:pic>
        <p:nvPicPr>
          <p:cNvPr id="7" name="Picture 6" descr="hist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234440"/>
            <a:ext cx="8396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2d. Correlation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Strongest correlate of revenue: Discount Percentage (%) (r = -0.006).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6</a:t>
            </a:r>
          </a:p>
        </p:txBody>
      </p:sp>
      <p:pic>
        <p:nvPicPr>
          <p:cNvPr id="7" name="Picture 6" descr="corr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844084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3716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Correlation with revenue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Discount Percentage (%): -0.006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AI/ML Adoption Rate (%): -0.004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Ad Campaign Effectiveness: -0.002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Customer Retention Rate (%): -0.002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Marketing Spend (USD): -0.001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Units Sold: -0.001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Return Rate (%): 0.001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Customer Satisfaction: -0.001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Market Share (%): -0.000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3a. Multiple Linear Regression (OLS, log revenue)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R² = 0.3703; 1 predictors significant at 5%.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ols_co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28333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371600"/>
          <a:ext cx="52120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202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0B0B"/>
                          </a:solidFill>
                        </a:defRPr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0B0B"/>
                          </a:solidFill>
                        </a:defRPr>
                      </a:pPr>
                      <a:r>
                        <a:t>Coefficient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0B0B"/>
                          </a:solidFill>
                        </a:defRPr>
                      </a:pPr>
                      <a:r>
                        <a:t>Std Err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0B0B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Date_Year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0.1467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0.0013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3b. Hold-out Regression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Test R² = 0.3837, MAE = 1.357 (log scale).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8</a:t>
            </a:r>
          </a:p>
        </p:txBody>
      </p:sp>
      <p:pic>
        <p:nvPicPr>
          <p:cNvPr id="7" name="Picture 6" descr="actual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250126" cy="47548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828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B0B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B0B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0.3837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Test MAE (log)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1.3569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Test RMSE (log)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1.7693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3c. Logistic Regression (High vs Low Revenue)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Accuracy 0.610; ROC-AUC 0.664 (0.5 = random guessing).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9</a:t>
            </a:r>
          </a:p>
        </p:txBody>
      </p:sp>
      <p:pic>
        <p:nvPicPr>
          <p:cNvPr id="7" name="Picture 6" descr="logit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3832493" cy="42062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011680"/>
          <a:ext cx="5852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B0B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B0B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B0B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0.6102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0.6637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0.7682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0.7671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3d. Decision Tree &amp; 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Top predictor: </a:t>
            </a:r>
            <a:r>
              <a:rPr dirty="0" err="1"/>
              <a:t>Date_Year</a:t>
            </a:r>
            <a:r>
              <a:rPr dirty="0"/>
              <a:t> (importance 0.996).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tre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766560" cy="350875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463040"/>
          <a:ext cx="4297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Importance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Date_Year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0.9965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0.0013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Return Rate (%)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0.0010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Marketing Spend (USD)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0.0006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Product Name_Tesla V100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0.0006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Customer Satisfaction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Discount Percentage (%)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Ad Campaign Effectiveness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3e. Decision Tree Diagram (Branches &amp; Split Rules)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Root split uses </a:t>
            </a:r>
            <a:r>
              <a:rPr dirty="0" err="1"/>
              <a:t>Date_Year</a:t>
            </a:r>
            <a:r>
              <a:rPr dirty="0"/>
              <a:t>; the tree separates High vs Low revenue mainly by year thresholds.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11</a:t>
            </a:r>
          </a:p>
        </p:txBody>
      </p:sp>
      <p:pic>
        <p:nvPicPr>
          <p:cNvPr id="7" name="Picture 6" descr="tre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10881360" cy="46687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4a. Time Series: Moving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The 3-month moving average smooths month-to-month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12</a:t>
            </a:r>
          </a:p>
        </p:txBody>
      </p:sp>
      <p:pic>
        <p:nvPicPr>
          <p:cNvPr id="7" name="Picture 6" descr="ts_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952282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4b. Exponential &amp; Double Exponential Smoothing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Lowest in-sample RMSE: 3-month 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13</a:t>
            </a:r>
          </a:p>
        </p:txBody>
      </p:sp>
      <p:pic>
        <p:nvPicPr>
          <p:cNvPr id="7" name="Picture 6" descr="ts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23760" cy="36069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0" y="182880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3-month MA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3,090,296,225.00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18,218,775,504.00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Simple Exp.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3,960,510,260.00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24,015,998,443.00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Holt Double Exp.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4,037,496,378.00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23,820,193,672.00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4c. Illustrative 6-Month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6B900"/>
                </a:solidFill>
              </a:defRPr>
            </a:pPr>
            <a:r>
              <a:rPr lang="en-US" dirty="0"/>
              <a:t>Interpretation </a:t>
            </a:r>
            <a:r>
              <a:rPr dirty="0"/>
              <a:t>: Mean forecast (USD bn): MA 767.52, SES 779.79, Holt 820.16.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14</a:t>
            </a:r>
          </a:p>
        </p:txBody>
      </p:sp>
      <p:pic>
        <p:nvPicPr>
          <p:cNvPr id="7" name="Picture 6" descr="ts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952282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5. Conclusion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011680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A6A6A6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• Revenue is highly skewed (skew 4.45); log transform used for regression.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• OLS R² 0.370; hold-out R² 0.384; logistic AUC 0.664; tree AUC 0.767.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• Strongest tree predictor: Date_Year; strongest correlate: Discount Percentage (%) (r = -0.006).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• Best time-series fit (RMSE): 3-month MA.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• Importance and correlation are not causation; metrics are exploratory.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• Data appears synthetic; validate source before presenting as real NVIDIA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6B900"/>
                </a:solidFill>
              </a:defRPr>
            </a:pPr>
            <a:r>
              <a:t>Code &amp; notebook: https://github.com/YOUR-USERNAME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2087</Words>
  <Application>Microsoft Office PowerPoint</Application>
  <PresentationFormat>Widescreen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Pushkar B</cp:lastModifiedBy>
  <cp:revision>3</cp:revision>
  <dcterms:created xsi:type="dcterms:W3CDTF">2013-01-27T09:14:16Z</dcterms:created>
  <dcterms:modified xsi:type="dcterms:W3CDTF">2026-10-10T04:15:05Z</dcterms:modified>
  <cp:category/>
</cp:coreProperties>
</file>